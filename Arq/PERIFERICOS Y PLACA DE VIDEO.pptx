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2" r:id="rId8"/>
    <p:sldId id="271" r:id="rId9"/>
    <p:sldId id="270" r:id="rId10"/>
    <p:sldId id="269" r:id="rId11"/>
    <p:sldId id="268" r:id="rId12"/>
    <p:sldId id="267" r:id="rId13"/>
    <p:sldId id="266" r:id="rId14"/>
    <p:sldId id="265" r:id="rId15"/>
    <p:sldId id="264" r:id="rId16"/>
    <p:sldId id="273" r:id="rId17"/>
    <p:sldId id="274" r:id="rId18"/>
    <p:sldId id="275" r:id="rId19"/>
    <p:sldId id="262" r:id="rId2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129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277233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2385062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236525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1774906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3643849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3451232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3094292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2930531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749533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2746122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AFB7B8CC-0A31-4E38-AF13-DE7CCFAA148F}" type="datetimeFigureOut">
              <a:rPr lang="es-ES" smtClean="0"/>
              <a:t>29/09/2016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55A441-E649-40D4-A3A8-573FC507894F}" type="slidenum">
              <a:rPr lang="es-ES" smtClean="0"/>
              <a:t>‹#›</a:t>
            </a:fld>
            <a:endParaRPr lang="es-ES"/>
          </a:p>
        </p:txBody>
      </p:sp>
    </p:spTree>
    <p:extLst>
      <p:ext uri="{BB962C8B-B14F-4D97-AF65-F5344CB8AC3E}">
        <p14:creationId xmlns:p14="http://schemas.microsoft.com/office/powerpoint/2010/main" val="1496541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B7B8CC-0A31-4E38-AF13-DE7CCFAA148F}" type="datetimeFigureOut">
              <a:rPr lang="es-ES" smtClean="0"/>
              <a:t>29/09/2016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5A441-E649-40D4-A3A8-573FC507894F}" type="slidenum">
              <a:rPr lang="es-ES" smtClean="0"/>
              <a:t>‹#›</a:t>
            </a:fld>
            <a:endParaRPr lang="es-ES"/>
          </a:p>
        </p:txBody>
      </p:sp>
    </p:spTree>
    <p:extLst>
      <p:ext uri="{BB962C8B-B14F-4D97-AF65-F5344CB8AC3E}">
        <p14:creationId xmlns:p14="http://schemas.microsoft.com/office/powerpoint/2010/main" val="1114123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8.xml"/><Relationship Id="rId7" Type="http://schemas.openxmlformats.org/officeDocument/2006/relationships/slide" Target="slide10.xml"/><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slide" Target="slide12.xml"/><Relationship Id="rId11" Type="http://schemas.openxmlformats.org/officeDocument/2006/relationships/slide" Target="slide16.xml"/><Relationship Id="rId5" Type="http://schemas.openxmlformats.org/officeDocument/2006/relationships/slide" Target="slide11.xml"/><Relationship Id="rId10" Type="http://schemas.openxmlformats.org/officeDocument/2006/relationships/slide" Target="slide14.xml"/><Relationship Id="rId4" Type="http://schemas.openxmlformats.org/officeDocument/2006/relationships/slide" Target="slide9.xml"/><Relationship Id="rId9" Type="http://schemas.openxmlformats.org/officeDocument/2006/relationships/slide" Target="slide15.xml"/></Relationships>
</file>

<file path=ppt/slides/_rels/slide7.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0641" y="548680"/>
            <a:ext cx="7772400" cy="1470025"/>
          </a:xfrm>
        </p:spPr>
        <p:txBody>
          <a:bodyPr/>
          <a:lstStyle/>
          <a:p>
            <a:r>
              <a:rPr lang="es-ES" dirty="0"/>
              <a:t>PERIFERICOS Y PLACA DE VIDEO</a:t>
            </a:r>
          </a:p>
        </p:txBody>
      </p:sp>
      <p:pic>
        <p:nvPicPr>
          <p:cNvPr id="4" name="3 Imagen"/>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2524710"/>
            <a:ext cx="3600400" cy="2700300"/>
          </a:xfrm>
          <a:prstGeom prst="rect">
            <a:avLst/>
          </a:prstGeom>
        </p:spPr>
      </p:pic>
      <p:pic>
        <p:nvPicPr>
          <p:cNvPr id="5" name="4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6" y="1934171"/>
            <a:ext cx="3096344" cy="1761046"/>
          </a:xfrm>
          <a:prstGeom prst="rect">
            <a:avLst/>
          </a:prstGeom>
        </p:spPr>
      </p:pic>
      <p:pic>
        <p:nvPicPr>
          <p:cNvPr id="7" name="6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6056" y="4005064"/>
            <a:ext cx="2952328" cy="2177199"/>
          </a:xfrm>
          <a:prstGeom prst="rect">
            <a:avLst/>
          </a:prstGeom>
        </p:spPr>
      </p:pic>
    </p:spTree>
    <p:extLst>
      <p:ext uri="{BB962C8B-B14F-4D97-AF65-F5344CB8AC3E}">
        <p14:creationId xmlns:p14="http://schemas.microsoft.com/office/powerpoint/2010/main" val="2800551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PERIFERICOS</a:t>
            </a:r>
          </a:p>
        </p:txBody>
      </p:sp>
      <p:sp>
        <p:nvSpPr>
          <p:cNvPr id="3" name="2 Marcador de contenido"/>
          <p:cNvSpPr>
            <a:spLocks noGrp="1"/>
          </p:cNvSpPr>
          <p:nvPr>
            <p:ph idx="1"/>
          </p:nvPr>
        </p:nvSpPr>
        <p:spPr/>
        <p:txBody>
          <a:bodyPr/>
          <a:lstStyle/>
          <a:p>
            <a:r>
              <a:rPr lang="es-AR" dirty="0"/>
              <a:t>Se consideran periféricos a las unidades o dispositivos de hardware a través de los cuales la computadora se comunica con el exterior</a:t>
            </a:r>
          </a:p>
          <a:p>
            <a:r>
              <a:rPr lang="es-AR" dirty="0"/>
              <a:t>Se dividen en tres grandes categorías que son de entrada, de salida y periféricos de entrada/salida.</a:t>
            </a:r>
            <a:endParaRPr lang="es-ES" dirty="0"/>
          </a:p>
        </p:txBody>
      </p:sp>
    </p:spTree>
    <p:extLst>
      <p:ext uri="{BB962C8B-B14F-4D97-AF65-F5344CB8AC3E}">
        <p14:creationId xmlns:p14="http://schemas.microsoft.com/office/powerpoint/2010/main" val="3058970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PERIFERICOS DE ENTRADA</a:t>
            </a:r>
          </a:p>
        </p:txBody>
      </p:sp>
      <p:sp>
        <p:nvSpPr>
          <p:cNvPr id="3" name="2 Marcador de contenido"/>
          <p:cNvSpPr>
            <a:spLocks noGrp="1"/>
          </p:cNvSpPr>
          <p:nvPr>
            <p:ph idx="1"/>
          </p:nvPr>
        </p:nvSpPr>
        <p:spPr/>
        <p:txBody>
          <a:bodyPr/>
          <a:lstStyle/>
          <a:p>
            <a:r>
              <a:rPr lang="es-ES" dirty="0"/>
              <a:t>Teclado</a:t>
            </a:r>
          </a:p>
          <a:p>
            <a:r>
              <a:rPr lang="es-ES" dirty="0"/>
              <a:t>Mouse</a:t>
            </a:r>
          </a:p>
          <a:p>
            <a:r>
              <a:rPr lang="es-ES" dirty="0"/>
              <a:t>Cámara Web</a:t>
            </a:r>
          </a:p>
          <a:p>
            <a:r>
              <a:rPr lang="es-ES" dirty="0" err="1"/>
              <a:t>Escaner</a:t>
            </a:r>
            <a:endParaRPr lang="es-ES" dirty="0"/>
          </a:p>
          <a:p>
            <a:r>
              <a:rPr lang="es-ES" dirty="0"/>
              <a:t>Micrófono</a:t>
            </a:r>
          </a:p>
        </p:txBody>
      </p:sp>
      <p:pic>
        <p:nvPicPr>
          <p:cNvPr id="4" name="3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1880" y="2924944"/>
            <a:ext cx="2808312" cy="1511808"/>
          </a:xfrm>
          <a:prstGeom prst="rect">
            <a:avLst/>
          </a:prstGeom>
        </p:spPr>
      </p:pic>
      <p:pic>
        <p:nvPicPr>
          <p:cNvPr id="5" name="4 Imag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14120" y="2805469"/>
            <a:ext cx="2334344" cy="1750758"/>
          </a:xfrm>
          <a:prstGeom prst="rect">
            <a:avLst/>
          </a:prstGeom>
        </p:spPr>
      </p:pic>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7864" y="1587614"/>
            <a:ext cx="2742556" cy="1175381"/>
          </a:xfrm>
          <a:prstGeom prst="rect">
            <a:avLst/>
          </a:prstGeom>
        </p:spPr>
      </p:pic>
      <p:pic>
        <p:nvPicPr>
          <p:cNvPr id="8" name="7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6216" y="1340768"/>
            <a:ext cx="1422227" cy="1422227"/>
          </a:xfrm>
          <a:prstGeom prst="rect">
            <a:avLst/>
          </a:prstGeom>
        </p:spPr>
      </p:pic>
    </p:spTree>
    <p:extLst>
      <p:ext uri="{BB962C8B-B14F-4D97-AF65-F5344CB8AC3E}">
        <p14:creationId xmlns:p14="http://schemas.microsoft.com/office/powerpoint/2010/main" val="3140033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PERIFERICOS DE ENTRADA/SALIDA</a:t>
            </a:r>
          </a:p>
        </p:txBody>
      </p:sp>
      <p:sp>
        <p:nvSpPr>
          <p:cNvPr id="3" name="2 Marcador de contenido"/>
          <p:cNvSpPr>
            <a:spLocks noGrp="1"/>
          </p:cNvSpPr>
          <p:nvPr>
            <p:ph idx="1"/>
          </p:nvPr>
        </p:nvSpPr>
        <p:spPr/>
        <p:txBody>
          <a:bodyPr/>
          <a:lstStyle/>
          <a:p>
            <a:r>
              <a:rPr lang="es-AR" dirty="0"/>
              <a:t>Adaptador USB-</a:t>
            </a:r>
            <a:r>
              <a:rPr lang="es-AR" dirty="0" err="1"/>
              <a:t>BlueTooth</a:t>
            </a:r>
            <a:endParaRPr lang="es-AR" dirty="0"/>
          </a:p>
          <a:p>
            <a:r>
              <a:rPr lang="es-AR" dirty="0" err="1"/>
              <a:t>Hub</a:t>
            </a:r>
            <a:r>
              <a:rPr lang="es-AR" dirty="0"/>
              <a:t> de puertos USB</a:t>
            </a:r>
          </a:p>
          <a:p>
            <a:r>
              <a:rPr lang="es-AR" dirty="0"/>
              <a:t>Adaptador USB-</a:t>
            </a:r>
            <a:r>
              <a:rPr lang="es-AR" dirty="0" err="1"/>
              <a:t>Wi</a:t>
            </a:r>
            <a:r>
              <a:rPr lang="es-AR" dirty="0"/>
              <a:t>-Fi</a:t>
            </a:r>
          </a:p>
          <a:p>
            <a:r>
              <a:rPr lang="es-AR" dirty="0" err="1"/>
              <a:t>Lectograbadora</a:t>
            </a:r>
            <a:r>
              <a:rPr lang="es-AR" dirty="0"/>
              <a:t> de DVD externo</a:t>
            </a:r>
            <a:endParaRPr lang="es-ES" dirty="0"/>
          </a:p>
        </p:txBody>
      </p:sp>
      <p:pic>
        <p:nvPicPr>
          <p:cNvPr id="4" name="3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28184" y="1412776"/>
            <a:ext cx="1800200" cy="1800200"/>
          </a:xfrm>
          <a:prstGeom prst="rect">
            <a:avLst/>
          </a:prstGeom>
        </p:spPr>
      </p:pic>
      <p:pic>
        <p:nvPicPr>
          <p:cNvPr id="8" name="7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3933056"/>
            <a:ext cx="2592288" cy="2592288"/>
          </a:xfrm>
          <a:prstGeom prst="rect">
            <a:avLst/>
          </a:prstGeom>
        </p:spPr>
      </p:pic>
      <p:pic>
        <p:nvPicPr>
          <p:cNvPr id="9" name="8 Imagen"/>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78795" y="4293096"/>
            <a:ext cx="1955363" cy="1955363"/>
          </a:xfrm>
          <a:prstGeom prst="rect">
            <a:avLst/>
          </a:prstGeom>
        </p:spPr>
      </p:pic>
      <p:pic>
        <p:nvPicPr>
          <p:cNvPr id="10" name="9 Imagen"/>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16216" y="4049070"/>
            <a:ext cx="2476273" cy="2476273"/>
          </a:xfrm>
          <a:prstGeom prst="rect">
            <a:avLst/>
          </a:prstGeom>
        </p:spPr>
      </p:pic>
    </p:spTree>
    <p:extLst>
      <p:ext uri="{BB962C8B-B14F-4D97-AF65-F5344CB8AC3E}">
        <p14:creationId xmlns:p14="http://schemas.microsoft.com/office/powerpoint/2010/main" val="1930124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Placas de video</a:t>
            </a:r>
          </a:p>
        </p:txBody>
      </p:sp>
      <p:sp>
        <p:nvSpPr>
          <p:cNvPr id="3" name="2 Marcador de contenido"/>
          <p:cNvSpPr>
            <a:spLocks noGrp="1"/>
          </p:cNvSpPr>
          <p:nvPr>
            <p:ph idx="1"/>
          </p:nvPr>
        </p:nvSpPr>
        <p:spPr/>
        <p:txBody>
          <a:bodyPr>
            <a:normAutofit lnSpcReduction="10000"/>
          </a:bodyPr>
          <a:lstStyle/>
          <a:p>
            <a:r>
              <a:rPr lang="es-ES" dirty="0"/>
              <a:t>Una tarjeta de vídeo, también llamada </a:t>
            </a:r>
            <a:r>
              <a:rPr lang="es-ES" b="1" dirty="0"/>
              <a:t>tarjeta gráfica</a:t>
            </a:r>
            <a:r>
              <a:rPr lang="es-ES" dirty="0"/>
              <a:t> tiene a su cargo el procesamiento de los datos que provienen del procesador principal (CPU) y convertirlos en información que se pueda representar en dispositivos tales como los monitores y los televisores.</a:t>
            </a:r>
          </a:p>
          <a:p>
            <a:r>
              <a:rPr lang="es-AR" dirty="0"/>
              <a:t>Está compuesta por la memoria de video, un controlador de video y un generador de caracteres. </a:t>
            </a:r>
            <a:endParaRPr lang="es-ES" dirty="0"/>
          </a:p>
        </p:txBody>
      </p:sp>
    </p:spTree>
    <p:extLst>
      <p:ext uri="{BB962C8B-B14F-4D97-AF65-F5344CB8AC3E}">
        <p14:creationId xmlns:p14="http://schemas.microsoft.com/office/powerpoint/2010/main" val="3291226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Arquitectura básica</a:t>
            </a:r>
          </a:p>
        </p:txBody>
      </p:sp>
      <p:sp>
        <p:nvSpPr>
          <p:cNvPr id="4" name="Rectangle 3"/>
          <p:cNvSpPr/>
          <p:nvPr/>
        </p:nvSpPr>
        <p:spPr>
          <a:xfrm>
            <a:off x="457200" y="1346426"/>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2" action="ppaction://hlinksldjump"/>
              </a:rPr>
              <a:t>La memoria RAM de Video</a:t>
            </a:r>
            <a:endParaRPr lang="es-AR" dirty="0"/>
          </a:p>
        </p:txBody>
      </p:sp>
      <p:sp>
        <p:nvSpPr>
          <p:cNvPr id="7" name="Rectangle 6"/>
          <p:cNvSpPr/>
          <p:nvPr/>
        </p:nvSpPr>
        <p:spPr>
          <a:xfrm>
            <a:off x="462981" y="2504040"/>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3" action="ppaction://hlinksldjump"/>
              </a:rPr>
              <a:t>El controlador grafico</a:t>
            </a:r>
            <a:endParaRPr lang="es-AR" dirty="0"/>
          </a:p>
        </p:txBody>
      </p:sp>
      <p:sp>
        <p:nvSpPr>
          <p:cNvPr id="8" name="Rectangle 7"/>
          <p:cNvSpPr/>
          <p:nvPr/>
        </p:nvSpPr>
        <p:spPr>
          <a:xfrm>
            <a:off x="457200" y="3626031"/>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4" action="ppaction://hlinksldjump"/>
              </a:rPr>
              <a:t>El secuenciador</a:t>
            </a:r>
            <a:endParaRPr lang="es-AR" dirty="0"/>
          </a:p>
        </p:txBody>
      </p:sp>
      <p:sp>
        <p:nvSpPr>
          <p:cNvPr id="9" name="Rectangle 8"/>
          <p:cNvSpPr/>
          <p:nvPr/>
        </p:nvSpPr>
        <p:spPr>
          <a:xfrm>
            <a:off x="3203848" y="1346426"/>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5" action="ppaction://hlinksldjump"/>
              </a:rPr>
              <a:t>El controlador de atributos</a:t>
            </a:r>
            <a:endParaRPr lang="es-AR" dirty="0"/>
          </a:p>
        </p:txBody>
      </p:sp>
      <p:sp>
        <p:nvSpPr>
          <p:cNvPr id="10" name="Rectangle 9"/>
          <p:cNvSpPr/>
          <p:nvPr/>
        </p:nvSpPr>
        <p:spPr>
          <a:xfrm>
            <a:off x="3203848" y="2489426"/>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6" action="ppaction://hlinksldjump"/>
              </a:rPr>
              <a:t>El </a:t>
            </a:r>
            <a:r>
              <a:rPr lang="es-AR" dirty="0" err="1">
                <a:hlinkClick r:id="rId6" action="ppaction://hlinksldjump"/>
              </a:rPr>
              <a:t>serializador</a:t>
            </a:r>
            <a:endParaRPr lang="es-AR" dirty="0"/>
          </a:p>
        </p:txBody>
      </p:sp>
      <p:sp>
        <p:nvSpPr>
          <p:cNvPr id="11" name="Rectangle 10"/>
          <p:cNvSpPr/>
          <p:nvPr/>
        </p:nvSpPr>
        <p:spPr>
          <a:xfrm>
            <a:off x="465070" y="4748022"/>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7" action="ppaction://hlinksldjump"/>
              </a:rPr>
              <a:t>El controlador de video</a:t>
            </a:r>
            <a:endParaRPr lang="es-AR" dirty="0"/>
          </a:p>
        </p:txBody>
      </p:sp>
      <p:sp>
        <p:nvSpPr>
          <p:cNvPr id="12" name="Rectangle 11"/>
          <p:cNvSpPr/>
          <p:nvPr/>
        </p:nvSpPr>
        <p:spPr>
          <a:xfrm>
            <a:off x="3203848" y="3644287"/>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8" action="ppaction://hlinksldjump"/>
              </a:rPr>
              <a:t>El conversor digital-</a:t>
            </a:r>
            <a:r>
              <a:rPr lang="es-AR" dirty="0" err="1">
                <a:hlinkClick r:id="rId8" action="ppaction://hlinksldjump"/>
              </a:rPr>
              <a:t>analogico</a:t>
            </a:r>
            <a:endParaRPr lang="es-AR" dirty="0"/>
          </a:p>
        </p:txBody>
      </p:sp>
      <p:sp>
        <p:nvSpPr>
          <p:cNvPr id="13" name="Rectangle 12"/>
          <p:cNvSpPr/>
          <p:nvPr/>
        </p:nvSpPr>
        <p:spPr>
          <a:xfrm>
            <a:off x="5970923" y="1346426"/>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9" action="ppaction://hlinksldjump"/>
              </a:rPr>
              <a:t>El BIOS de video</a:t>
            </a:r>
            <a:endParaRPr lang="es-AR" dirty="0"/>
          </a:p>
        </p:txBody>
      </p:sp>
      <p:sp>
        <p:nvSpPr>
          <p:cNvPr id="14" name="Rectangle 13"/>
          <p:cNvSpPr/>
          <p:nvPr/>
        </p:nvSpPr>
        <p:spPr>
          <a:xfrm>
            <a:off x="3203848" y="4799148"/>
            <a:ext cx="223224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hlinkClick r:id="rId10" action="ppaction://hlinksldjump"/>
              </a:rPr>
              <a:t>Los registros</a:t>
            </a:r>
            <a:endParaRPr lang="es-AR" dirty="0"/>
          </a:p>
        </p:txBody>
      </p:sp>
      <p:sp>
        <p:nvSpPr>
          <p:cNvPr id="15" name="Action Button: End 14">
            <a:hlinkClick r:id="rId11" action="ppaction://hlinksldjump" highlightClick="1"/>
          </p:cNvPr>
          <p:cNvSpPr/>
          <p:nvPr/>
        </p:nvSpPr>
        <p:spPr>
          <a:xfrm>
            <a:off x="6588224" y="5949280"/>
            <a:ext cx="1512168" cy="648072"/>
          </a:xfrm>
          <a:prstGeom prst="actionButtonE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678674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La Memoria RAM de Video</a:t>
            </a:r>
          </a:p>
        </p:txBody>
      </p:sp>
      <p:sp>
        <p:nvSpPr>
          <p:cNvPr id="3" name="Content Placeholder 2"/>
          <p:cNvSpPr>
            <a:spLocks noGrp="1"/>
          </p:cNvSpPr>
          <p:nvPr>
            <p:ph idx="1"/>
          </p:nvPr>
        </p:nvSpPr>
        <p:spPr/>
        <p:txBody>
          <a:bodyPr>
            <a:normAutofit/>
          </a:bodyPr>
          <a:lstStyle/>
          <a:p>
            <a:r>
              <a:rPr lang="es-AR" sz="2000" dirty="0"/>
              <a:t>Para saber la cantidad de memoria requerida para mostrar una determinada resolución con cierta cantidad de colores se debe multiplicar la resolución horizontal por la vertical para conseguir la cantidad de pixeles totales que debe presentar la pantalla. Este número deberá ser multiplicado por la cantidad de bits, que se necesitan para mostrar la cantidad de colores deseada por pixel y luego dividirlo por 8 para representar el valor en bytes.</a:t>
            </a:r>
          </a:p>
          <a:p>
            <a:r>
              <a:rPr lang="es-AR" sz="2200" dirty="0"/>
              <a:t>En las placas de video aceleradoras de gráficos 3D, la memoria de video encuentra otra utilidad: la de almacenar temporalmente las texturas que utilizan para revestir las figuras tridimensionales en tiempo real y así lograr una mayor velocidad en este complejo proceso. </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755994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Controlador Grafico</a:t>
            </a:r>
          </a:p>
        </p:txBody>
      </p:sp>
      <p:sp>
        <p:nvSpPr>
          <p:cNvPr id="3" name="Content Placeholder 2"/>
          <p:cNvSpPr>
            <a:spLocks noGrp="1"/>
          </p:cNvSpPr>
          <p:nvPr>
            <p:ph idx="1"/>
          </p:nvPr>
        </p:nvSpPr>
        <p:spPr/>
        <p:txBody>
          <a:bodyPr/>
          <a:lstStyle/>
          <a:p>
            <a:r>
              <a:rPr lang="es-AR" dirty="0"/>
              <a:t>Este se encarga de administrar el acceso desde el microprocesador a la memoria de video, mediante la cual se modifica la información en pantalla.</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6717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Secuenciador</a:t>
            </a:r>
          </a:p>
        </p:txBody>
      </p:sp>
      <p:sp>
        <p:nvSpPr>
          <p:cNvPr id="3" name="Content Placeholder 2"/>
          <p:cNvSpPr>
            <a:spLocks noGrp="1"/>
          </p:cNvSpPr>
          <p:nvPr>
            <p:ph idx="1"/>
          </p:nvPr>
        </p:nvSpPr>
        <p:spPr/>
        <p:txBody>
          <a:bodyPr/>
          <a:lstStyle/>
          <a:p>
            <a:r>
              <a:rPr lang="es-AR" dirty="0"/>
              <a:t>Se encarga de controlar los tiempos y coordinar el funcionamiento, a su vez administra el plano al que se accederá cuando se pretenda escribir en la memoria de video.</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872235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Controlador de Video</a:t>
            </a:r>
          </a:p>
        </p:txBody>
      </p:sp>
      <p:sp>
        <p:nvSpPr>
          <p:cNvPr id="3" name="Content Placeholder 2"/>
          <p:cNvSpPr>
            <a:spLocks noGrp="1"/>
          </p:cNvSpPr>
          <p:nvPr>
            <p:ph idx="1"/>
          </p:nvPr>
        </p:nvSpPr>
        <p:spPr/>
        <p:txBody>
          <a:bodyPr/>
          <a:lstStyle/>
          <a:p>
            <a:r>
              <a:rPr lang="es-AR" dirty="0"/>
              <a:t>Es el encargado de producir la señal que será enviada al monitor. También es el encargado de regular los tiempos y generar las señales de sincronismo horizontal y vertical para el correcto funcionamiento del monitor.</a:t>
            </a:r>
          </a:p>
          <a:p>
            <a:endParaRPr lang="es-AR" dirty="0"/>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160696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Controlador de Atributos</a:t>
            </a:r>
          </a:p>
        </p:txBody>
      </p:sp>
      <p:sp>
        <p:nvSpPr>
          <p:cNvPr id="3" name="Content Placeholder 2"/>
          <p:cNvSpPr>
            <a:spLocks noGrp="1"/>
          </p:cNvSpPr>
          <p:nvPr>
            <p:ph idx="1"/>
          </p:nvPr>
        </p:nvSpPr>
        <p:spPr/>
        <p:txBody>
          <a:bodyPr/>
          <a:lstStyle/>
          <a:p>
            <a:r>
              <a:rPr lang="es-AR" dirty="0"/>
              <a:t>Administra la paleta de colores, posibilitando de esta manera que cualquier atributo de color contenga uno de los colores de todos los posibles. También controla otros efectos en modo texto: cursor, parpadeo, borde de color, desplazamiento horizontal suave del pixel, subrayado, etc.</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98072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a:t>
            </a:r>
            <a:r>
              <a:rPr lang="es-AR" dirty="0" err="1"/>
              <a:t>Serializador</a:t>
            </a:r>
            <a:endParaRPr lang="es-AR" dirty="0"/>
          </a:p>
        </p:txBody>
      </p:sp>
      <p:sp>
        <p:nvSpPr>
          <p:cNvPr id="3" name="Content Placeholder 2"/>
          <p:cNvSpPr>
            <a:spLocks noGrp="1"/>
          </p:cNvSpPr>
          <p:nvPr>
            <p:ph idx="1"/>
          </p:nvPr>
        </p:nvSpPr>
        <p:spPr/>
        <p:txBody>
          <a:bodyPr/>
          <a:lstStyle/>
          <a:p>
            <a:r>
              <a:rPr lang="es-AR" dirty="0"/>
              <a:t>Este se encarga de leer la información de la memoria de video y enviarla por un solo conductor en forma codificada.</a:t>
            </a:r>
          </a:p>
          <a:p>
            <a:endParaRPr lang="es-AR" dirty="0"/>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928947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Conversor Digital-</a:t>
            </a:r>
            <a:r>
              <a:rPr lang="es-AR" dirty="0" err="1"/>
              <a:t>Analogico</a:t>
            </a:r>
            <a:endParaRPr lang="es-AR" dirty="0"/>
          </a:p>
        </p:txBody>
      </p:sp>
      <p:sp>
        <p:nvSpPr>
          <p:cNvPr id="3" name="Content Placeholder 2"/>
          <p:cNvSpPr>
            <a:spLocks noGrp="1"/>
          </p:cNvSpPr>
          <p:nvPr>
            <p:ph idx="1"/>
          </p:nvPr>
        </p:nvSpPr>
        <p:spPr/>
        <p:txBody>
          <a:bodyPr>
            <a:normAutofit/>
          </a:bodyPr>
          <a:lstStyle/>
          <a:p>
            <a:r>
              <a:rPr lang="es-AR" sz="2200" dirty="0"/>
              <a:t>El conversor digital-analógico (DAC – digital </a:t>
            </a:r>
            <a:r>
              <a:rPr lang="es-AR" sz="2200" dirty="0" err="1"/>
              <a:t>analogic</a:t>
            </a:r>
            <a:r>
              <a:rPr lang="es-AR" sz="2200" dirty="0"/>
              <a:t> </a:t>
            </a:r>
            <a:r>
              <a:rPr lang="es-AR" sz="2200" dirty="0" err="1"/>
              <a:t>converter</a:t>
            </a:r>
            <a:r>
              <a:rPr lang="es-AR" sz="2200" dirty="0"/>
              <a:t>) es el encargado de generar una señal analógica a partir de una digital. Los conversores programables se encuentran en la tarjeta de video y se componen por tres conversores, uno para cada color: rojo, verde y azul.</a:t>
            </a:r>
          </a:p>
          <a:p>
            <a:r>
              <a:rPr lang="es-AR" sz="2200" dirty="0"/>
              <a:t> Los RAM-DAC poseen una memoria RAM incorporada en el conversor para la información correspondiente a la paleta de colores, por lo que son más veloces que los DAC que deben ir a buscar esta información en chips RAM fuera del conversor. </a:t>
            </a:r>
          </a:p>
          <a:p>
            <a:r>
              <a:rPr lang="es-AR" sz="2200" dirty="0"/>
              <a:t>Aquellos que son integrados se encuentran incorporados dentro del procesador de la tarjeta de video consiguiendo así un rendimiento muy superior de los que no.</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12355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Los Registros</a:t>
            </a:r>
          </a:p>
        </p:txBody>
      </p:sp>
      <p:sp>
        <p:nvSpPr>
          <p:cNvPr id="3" name="Content Placeholder 2"/>
          <p:cNvSpPr>
            <a:spLocks noGrp="1"/>
          </p:cNvSpPr>
          <p:nvPr>
            <p:ph idx="1"/>
          </p:nvPr>
        </p:nvSpPr>
        <p:spPr/>
        <p:txBody>
          <a:bodyPr>
            <a:normAutofit/>
          </a:bodyPr>
          <a:lstStyle/>
          <a:p>
            <a:r>
              <a:rPr lang="es-AR" sz="2400" dirty="0"/>
              <a:t>Los registros son puertos de E/S en los cuales se puede escribir o leer información. Es una forma de seleccionar el modo de operación de la tarjeta en forma directa, sin pasar por el BIOS de la misma.</a:t>
            </a:r>
          </a:p>
          <a:p>
            <a:r>
              <a:rPr lang="es-AR" sz="2400" dirty="0"/>
              <a:t>Las tarjetas de video modernas tienen decenas de registros con diferentes funcionalidades. </a:t>
            </a:r>
          </a:p>
          <a:p>
            <a:r>
              <a:rPr lang="es-AR" sz="2400" dirty="0"/>
              <a:t>Para acceder a los registros se deben realizar 2 operaciones: primero se debe seleccionar el registro que se quiere leer o escribir y luego se lee o modifica el mismo.</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801309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El BIOS de Video</a:t>
            </a:r>
          </a:p>
        </p:txBody>
      </p:sp>
      <p:sp>
        <p:nvSpPr>
          <p:cNvPr id="3" name="Content Placeholder 2"/>
          <p:cNvSpPr>
            <a:spLocks noGrp="1"/>
          </p:cNvSpPr>
          <p:nvPr>
            <p:ph idx="1"/>
          </p:nvPr>
        </p:nvSpPr>
        <p:spPr/>
        <p:txBody>
          <a:bodyPr/>
          <a:lstStyle/>
          <a:p>
            <a:r>
              <a:rPr lang="es-AR" dirty="0"/>
              <a:t>Esta memoria ROM se encarga de las operaciones básicas de video, especialmente de aquellas referidas al modo texto y de efectuar operaciones como la modificación de los registros y la selección del modo de trabajo de la tarjeta.</a:t>
            </a:r>
          </a:p>
        </p:txBody>
      </p:sp>
      <p:sp>
        <p:nvSpPr>
          <p:cNvPr id="4" name="Action Button: Back or Previous 3">
            <a:hlinkClick r:id="rId2" action="ppaction://hlinksldjump" highlightClick="1"/>
          </p:cNvPr>
          <p:cNvSpPr/>
          <p:nvPr/>
        </p:nvSpPr>
        <p:spPr>
          <a:xfrm>
            <a:off x="971600" y="5805264"/>
            <a:ext cx="1368152" cy="72008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062231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S" dirty="0"/>
              <a:t>Unidad de Procesamiento de Gráficos (GPU)</a:t>
            </a:r>
            <a:endParaRPr lang="es-AR" dirty="0"/>
          </a:p>
        </p:txBody>
      </p:sp>
      <p:sp>
        <p:nvSpPr>
          <p:cNvPr id="3" name="Content Placeholder 2"/>
          <p:cNvSpPr>
            <a:spLocks noGrp="1"/>
          </p:cNvSpPr>
          <p:nvPr>
            <p:ph idx="1"/>
          </p:nvPr>
        </p:nvSpPr>
        <p:spPr/>
        <p:txBody>
          <a:bodyPr/>
          <a:lstStyle/>
          <a:p>
            <a:r>
              <a:rPr lang="es-AR" dirty="0"/>
              <a:t>Se trata de un procesador que se dedica exclusivamente al procesamiento de gráficos u operaciones de "coma flotante". Lo que hace la GPU es aligerar el trabajo a la CPU a la hora de abrir juegos o aplicaciones con gráficos interactivos 3D.</a:t>
            </a:r>
          </a:p>
        </p:txBody>
      </p:sp>
    </p:spTree>
    <p:extLst>
      <p:ext uri="{BB962C8B-B14F-4D97-AF65-F5344CB8AC3E}">
        <p14:creationId xmlns:p14="http://schemas.microsoft.com/office/powerpoint/2010/main" val="3426722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AR" dirty="0"/>
              <a:t>Tipos de GPU</a:t>
            </a:r>
          </a:p>
        </p:txBody>
      </p:sp>
      <p:sp>
        <p:nvSpPr>
          <p:cNvPr id="3" name="Content Placeholder 2"/>
          <p:cNvSpPr>
            <a:spLocks noGrp="1"/>
          </p:cNvSpPr>
          <p:nvPr>
            <p:ph idx="1"/>
          </p:nvPr>
        </p:nvSpPr>
        <p:spPr/>
        <p:txBody>
          <a:bodyPr>
            <a:normAutofit fontScale="77500" lnSpcReduction="20000"/>
          </a:bodyPr>
          <a:lstStyle/>
          <a:p>
            <a:pPr marL="0" indent="0">
              <a:buNone/>
            </a:pPr>
            <a:r>
              <a:rPr lang="es-AR" dirty="0"/>
              <a:t>Podemos distinguir tres tipos de GPU:</a:t>
            </a:r>
          </a:p>
          <a:p>
            <a:r>
              <a:rPr lang="es-AR" dirty="0"/>
              <a:t>Tarjetas dedicadas: son las que mayor potencia proporcionan. Están específicamente diseñadas para esta labor, y se integra a la placa madre a través de un puerto aparte. Tiene una memoria RAM independiente que solo puede ser utilizada por la GPU.</a:t>
            </a:r>
          </a:p>
          <a:p>
            <a:r>
              <a:rPr lang="es-AR" dirty="0"/>
              <a:t>Integrados gráficos: en esta ocasión, la memoria que se utiliza es la del sistema. Esta es la forma presente en </a:t>
            </a:r>
            <a:r>
              <a:rPr lang="es-AR" dirty="0" err="1"/>
              <a:t>smartphones</a:t>
            </a:r>
            <a:r>
              <a:rPr lang="es-AR" dirty="0"/>
              <a:t> y </a:t>
            </a:r>
            <a:r>
              <a:rPr lang="es-AR" dirty="0" err="1"/>
              <a:t>tablets</a:t>
            </a:r>
            <a:r>
              <a:rPr lang="es-AR" dirty="0"/>
              <a:t>. Ahora la GPU está integrada en el procesador.</a:t>
            </a:r>
          </a:p>
          <a:p>
            <a:r>
              <a:rPr lang="es-AR" dirty="0"/>
              <a:t>Existen híbridos, mezclas de ambos tipos. Es decir, tienen una pequeña RAM dedicada, pero también utilizan memoria del sistema.</a:t>
            </a:r>
          </a:p>
        </p:txBody>
      </p:sp>
    </p:spTree>
    <p:extLst>
      <p:ext uri="{BB962C8B-B14F-4D97-AF65-F5344CB8AC3E}">
        <p14:creationId xmlns:p14="http://schemas.microsoft.com/office/powerpoint/2010/main" val="374422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AR" b="1" dirty="0"/>
              <a:t>¿Cómo funciona una GPU?</a:t>
            </a:r>
            <a:endParaRPr lang="es-AR" dirty="0"/>
          </a:p>
        </p:txBody>
      </p:sp>
      <p:sp>
        <p:nvSpPr>
          <p:cNvPr id="3" name="Content Placeholder 2"/>
          <p:cNvSpPr>
            <a:spLocks noGrp="1"/>
          </p:cNvSpPr>
          <p:nvPr>
            <p:ph idx="1"/>
          </p:nvPr>
        </p:nvSpPr>
        <p:spPr/>
        <p:txBody>
          <a:bodyPr>
            <a:normAutofit fontScale="70000" lnSpcReduction="20000"/>
          </a:bodyPr>
          <a:lstStyle/>
          <a:p>
            <a:r>
              <a:rPr lang="es-AR" dirty="0"/>
              <a:t>A diferencia de los procesadores, con pocos núcleos y alta velocidad, las GPU tienen muchos núcleos de procesamiento a velocidades bajas. Están dirigidos a dos funciones diferentes, el procesamiento de vértices y el de píxeles.</a:t>
            </a:r>
          </a:p>
          <a:p>
            <a:r>
              <a:rPr lang="es-AR" dirty="0"/>
              <a:t>El procesamiento de vértices se dedica a obtener información de éstos, previamente calculada por la CPU, y procesar su ordenamiento, espacio y rotación, así como qué segmento del vértice será gráficamente visible, para posteriormente pasar al </a:t>
            </a:r>
            <a:r>
              <a:rPr lang="es-AR" dirty="0" err="1"/>
              <a:t>pixelado</a:t>
            </a:r>
            <a:r>
              <a:rPr lang="es-AR" dirty="0"/>
              <a:t>.</a:t>
            </a:r>
          </a:p>
          <a:p>
            <a:r>
              <a:rPr lang="es-AR" dirty="0"/>
              <a:t>El procesamiento de píxeles, o dicho más fácil, los gráficos que vemos como tal, es muy complejo y necesita de mucho más procesamiento. En él se aplican todas las capas y efectos necesarios para crear texturas complejas y obtener gráficos lo más realistas posibles.</a:t>
            </a:r>
          </a:p>
        </p:txBody>
      </p:sp>
    </p:spTree>
    <p:extLst>
      <p:ext uri="{BB962C8B-B14F-4D97-AF65-F5344CB8AC3E}">
        <p14:creationId xmlns:p14="http://schemas.microsoft.com/office/powerpoint/2010/main" val="1744964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t>Pasos para producir (</a:t>
            </a:r>
            <a:r>
              <a:rPr lang="es-ES" dirty="0" err="1"/>
              <a:t>render</a:t>
            </a:r>
            <a:r>
              <a:rPr lang="es-ES" dirty="0"/>
              <a:t>) una escena 3D</a:t>
            </a:r>
          </a:p>
        </p:txBody>
      </p:sp>
      <p:pic>
        <p:nvPicPr>
          <p:cNvPr id="4" name="3 Marcador de contenido"/>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915816" y="1628800"/>
            <a:ext cx="3528392" cy="5166744"/>
          </a:xfrm>
        </p:spPr>
      </p:pic>
    </p:spTree>
    <p:extLst>
      <p:ext uri="{BB962C8B-B14F-4D97-AF65-F5344CB8AC3E}">
        <p14:creationId xmlns:p14="http://schemas.microsoft.com/office/powerpoint/2010/main" val="167481817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958</Words>
  <Application>Microsoft Office PowerPoint</Application>
  <PresentationFormat>On-screen Show (4:3)</PresentationFormat>
  <Paragraphs>63</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Tema de Office</vt:lpstr>
      <vt:lpstr>PERIFERICOS Y PLACA DE VIDEO</vt:lpstr>
      <vt:lpstr>PERIFERICOS</vt:lpstr>
      <vt:lpstr>PERIFERICOS DE ENTRADA</vt:lpstr>
      <vt:lpstr>PERIFERICOS DE ENTRADA/SALIDA</vt:lpstr>
      <vt:lpstr>Placas de video</vt:lpstr>
      <vt:lpstr>Arquitectura básica</vt:lpstr>
      <vt:lpstr>La Memoria RAM de Video</vt:lpstr>
      <vt:lpstr>El Controlador Grafico</vt:lpstr>
      <vt:lpstr>El Secuenciador</vt:lpstr>
      <vt:lpstr>El Controlador de Video</vt:lpstr>
      <vt:lpstr>El Controlador de Atributos</vt:lpstr>
      <vt:lpstr>El Serializador</vt:lpstr>
      <vt:lpstr>El Conversor Digital-Analogico</vt:lpstr>
      <vt:lpstr>Los Registros</vt:lpstr>
      <vt:lpstr>El BIOS de Video</vt:lpstr>
      <vt:lpstr>Unidad de Procesamiento de Gráficos (GPU)</vt:lpstr>
      <vt:lpstr>Tipos de GPU</vt:lpstr>
      <vt:lpstr>¿Cómo funciona una GPU?</vt:lpstr>
      <vt:lpstr>Pasos para producir (render) una escena 3D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PERIFERICOS Y PLACA DE VIDEO</dc:title>
  <dc:creator>LENI-ALUMNO</dc:creator>
  <cp:lastModifiedBy>Naldo</cp:lastModifiedBy>
  <cp:revision>14</cp:revision>
  <dcterms:created xsi:type="dcterms:W3CDTF">2016-09-28T17:43:57Z</dcterms:created>
  <dcterms:modified xsi:type="dcterms:W3CDTF">2016-09-29T12:25:40Z</dcterms:modified>
</cp:coreProperties>
</file>